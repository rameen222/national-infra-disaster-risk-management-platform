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Rainfall total (mm)</c:v>
                </c:pt>
              </c:strCache>
            </c:strRef>
          </c:tx>
          <c:spPr>
            <a:solidFill>
              <a:srgbClr val="1C6E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Ordinary day (P50)</c:v>
                  </c:pt>
                  <c:pt idx="1">
                    <c:v>Notable day (P75)</c:v>
                  </c:pt>
                  <c:pt idx="2">
                    <c:v>Minor-flood threshold (P90)</c:v>
                  </c:pt>
                  <c:pt idx="3">
                    <c:v>Illustrative day, 2011</c:v>
                  </c:pt>
                  <c:pt idx="4">
                    <c:v>2006 event  ·  historic</c:v>
                  </c:pt>
                  <c:pt idx="5">
                    <c:v>T5 design storm</c:v>
                  </c:pt>
                  <c:pt idx="6">
                    <c:v>T10 design storm</c:v>
                  </c:pt>
                  <c:pt idx="7">
                    <c:v>T25 design storm</c:v>
                  </c:pt>
                  <c:pt idx="8">
                    <c:v>T50 design storm</c:v>
                  </c:pt>
                  <c:pt idx="9">
                    <c:v>T100 design storm</c:v>
                  </c:pt>
                  <c:pt idx="10">
                    <c:v>2010 event  ·  historic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7.9</c:v>
                </c:pt>
                <c:pt idx="1">
                  <c:v>18.3</c:v>
                </c:pt>
                <c:pt idx="2">
                  <c:v>33.9</c:v>
                </c:pt>
                <c:pt idx="3">
                  <c:v>75.3</c:v>
                </c:pt>
                <c:pt idx="4">
                  <c:v>81.8</c:v>
                </c:pt>
                <c:pt idx="5">
                  <c:v>82</c:v>
                </c:pt>
                <c:pt idx="6">
                  <c:v>95</c:v>
                </c:pt>
                <c:pt idx="7">
                  <c:v>112</c:v>
                </c:pt>
                <c:pt idx="8">
                  <c:v>124</c:v>
                </c:pt>
                <c:pt idx="9">
                  <c:v>137</c:v>
                </c:pt>
                <c:pt idx="10">
                  <c:v>202.4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9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29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7290"/>
                    </a:solidFill>
                    <a:latin typeface="Arial"/>
                  </a:rPr>
                  <a:t>Rainfall total, mm (each scenario's full rainfall window)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2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8735" y="6492240"/>
            <a:ext cx="1097280" cy="1097280"/>
          </a:xfrm>
          <a:prstGeom prst="ellipse">
            <a:avLst/>
          </a:prstGeom>
          <a:ln w="12700">
            <a:solidFill>
              <a:srgbClr val="1C6E8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74375" y="5897880"/>
            <a:ext cx="2286000" cy="2286000"/>
          </a:xfrm>
          <a:prstGeom prst="ellipse">
            <a:avLst/>
          </a:prstGeom>
          <a:ln w="12700">
            <a:solidFill>
              <a:srgbClr val="1C6E8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80015" y="5303520"/>
            <a:ext cx="3474720" cy="3474720"/>
          </a:xfrm>
          <a:prstGeom prst="ellipse">
            <a:avLst/>
          </a:prstGeom>
          <a:ln w="12700">
            <a:solidFill>
              <a:srgbClr val="1C6E8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85655" y="4709160"/>
            <a:ext cx="4663440" cy="4663440"/>
          </a:xfrm>
          <a:prstGeom prst="ellipse">
            <a:avLst/>
          </a:prstGeom>
          <a:ln w="12700">
            <a:solidFill>
              <a:srgbClr val="1C6E8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91295" y="4114800"/>
            <a:ext cx="5852160" cy="5852160"/>
          </a:xfrm>
          <a:prstGeom prst="ellipse">
            <a:avLst/>
          </a:prstGeom>
          <a:ln w="12700">
            <a:solidFill>
              <a:srgbClr val="1C6E8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737360" y="6035040"/>
            <a:ext cx="1611481" cy="559143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737360" y="6035040"/>
            <a:ext cx="1581258" cy="416880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737360" y="6035040"/>
            <a:ext cx="1908432" cy="293466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6011207"/>
            <a:ext cx="907270" cy="23833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5796720"/>
            <a:ext cx="1228300" cy="238320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5482494"/>
            <a:ext cx="2195931" cy="552546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5188626"/>
            <a:ext cx="2107854" cy="846414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5312332"/>
            <a:ext cx="1416745" cy="722708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37360" y="4998463"/>
            <a:ext cx="1379041" cy="1036577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5254452"/>
            <a:ext cx="756486" cy="780588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DISASTER MANAGEMENT AUTHORITY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14173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Flood Simulation to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Support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822960" y="32461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Pathway for Critical Infrastructure Resilience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296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Kalpani River Basin  ·  Proof of Concept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6172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   ·   Wing / Directorate   ·   8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17375" y="6583680"/>
            <a:ext cx="914400" cy="914400"/>
          </a:xfrm>
          <a:prstGeom prst="ellipse">
            <a:avLst/>
          </a:prstGeom>
          <a:ln w="12700">
            <a:solidFill>
              <a:srgbClr val="1C6E8C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60175" y="6126480"/>
            <a:ext cx="1828800" cy="1828800"/>
          </a:xfrm>
          <a:prstGeom prst="ellipse">
            <a:avLst/>
          </a:prstGeom>
          <a:ln w="12700">
            <a:solidFill>
              <a:srgbClr val="1C6E8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2975" y="5669280"/>
            <a:ext cx="2743200" cy="2743200"/>
          </a:xfrm>
          <a:prstGeom prst="ellipse">
            <a:avLst/>
          </a:prstGeom>
          <a:ln w="12700">
            <a:solidFill>
              <a:srgbClr val="1C6E8C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Not Knowing in Advance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Floods 2022 — Post-Disaster Needs Assessment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3748" y="2057400"/>
            <a:ext cx="33375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3748" y="246888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$5.6B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952348" y="35661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sector damage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8068" y="416052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$636M in ongoing economic losses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27068" y="2057400"/>
            <a:ext cx="33375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27068" y="246888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780,000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4655668" y="35661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destroyed outright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1388" y="416052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 million more damaged, left standing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0388" y="2057400"/>
            <a:ext cx="33375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30388" y="246888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8358988" y="35661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health facilities disrupted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04708" y="416052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delivery interrupted nationwide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Pakistan Floods 2022 — Post-Disaster Needs Assessment. Govt. of Pakistan · Asian Development Bank · European Union · UN agencies · World Bank (Oct 2022)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6675120"/>
            <a:ext cx="914400" cy="9144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6217920"/>
            <a:ext cx="1828800" cy="18288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554480" y="5760720"/>
            <a:ext cx="2743200" cy="27432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to Anticipatory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“Digital Twin” Means Here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6309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200"/>
              </a:spcAft>
              <a:buSzPct val="100000"/>
              <a:buChar char="▪"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twin: a live, data-driven replica of a river basin that behaves like the real one under any rainfall you throw at it</a:t>
            </a:r>
            <a:endParaRPr lang="en-US" sz="1600" dirty="0"/>
          </a:p>
          <a:p>
            <a:pPr marL="342900" indent="-342900">
              <a:spcAft>
                <a:spcPts val="2200"/>
              </a:spcAft>
              <a:buSzPct val="100000"/>
              <a:buChar char="▪"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map — a model that computes how water moves, where it pools, and what it touches</a:t>
            </a:r>
            <a:endParaRPr lang="en-US" sz="1600" dirty="0"/>
          </a:p>
          <a:p>
            <a:pPr marL="342900" indent="-342900">
              <a:spcAft>
                <a:spcPts val="2200"/>
              </a:spcAft>
              <a:buSzPct val="100000"/>
              <a:buChar char="▪"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turn “what happened” into “what if” — the same kind of scenario discussion NDMA already runs in tabletop exercises, grounded in physics and real terrain instead of assumption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01000" y="2697480"/>
            <a:ext cx="1188720" cy="118872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10" name="Image 0" descr="C:\Users\ramee\AppData\Local\Temp\claude\C--NDMA-infra-portal\63ed8ce6-2b8c-4432-b438-e37257ea434d\scratchpad\pptx_build\icons\mapmarked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293" y="2982773"/>
            <a:ext cx="618134" cy="61813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235440" y="3291840"/>
            <a:ext cx="1005840" cy="9144"/>
          </a:xfrm>
          <a:prstGeom prst="line">
            <a:avLst/>
          </a:prstGeom>
          <a:noFill/>
          <a:ln w="19050">
            <a:solidFill>
              <a:srgbClr val="5B7290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 rot="5400000">
            <a:off x="10149840" y="3218688"/>
            <a:ext cx="146304" cy="146304"/>
          </a:xfrm>
          <a:prstGeom prst="triangle">
            <a:avLst/>
          </a:prstGeom>
          <a:solidFill>
            <a:srgbClr val="5B7290"/>
          </a:solidFill>
          <a:ln/>
        </p:spPr>
      </p:sp>
      <p:sp>
        <p:nvSpPr>
          <p:cNvPr id="13" name="Shape 10"/>
          <p:cNvSpPr/>
          <p:nvPr/>
        </p:nvSpPr>
        <p:spPr>
          <a:xfrm>
            <a:off x="10012680" y="2697480"/>
            <a:ext cx="1188720" cy="1188720"/>
          </a:xfrm>
          <a:prstGeom prst="ellipse">
            <a:avLst/>
          </a:prstGeom>
          <a:solidFill>
            <a:srgbClr val="1C6E8C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14" name="Image 1" descr="C:\Users\ramee\AppData\Local\Temp\claude\C--NDMA-infra-portal\63ed8ce6-2b8c-4432-b438-e37257ea434d\scratchpad\pptx_build\icons\cl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973" y="2982773"/>
            <a:ext cx="618134" cy="6181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09560" y="3977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Basin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82980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Digital Replica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772400" y="4617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terrain. Same physics. Any rainfall you ask it.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731520" cy="731520"/>
          </a:xfrm>
          <a:prstGeom prst="ellipse">
            <a:avLst/>
          </a:prstGeom>
          <a:ln w="12700">
            <a:solidFill>
              <a:srgbClr val="1C6E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60120" y="-960120"/>
            <a:ext cx="1554480" cy="1554480"/>
          </a:xfrm>
          <a:prstGeom prst="ellipse">
            <a:avLst/>
          </a:prstGeom>
          <a:ln w="12700">
            <a:solidFill>
              <a:srgbClr val="1C6E8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1371600"/>
            <a:ext cx="2377440" cy="2377440"/>
          </a:xfrm>
          <a:prstGeom prst="ellipse">
            <a:avLst/>
          </a:prstGeom>
          <a:ln w="12700">
            <a:solidFill>
              <a:srgbClr val="1C6E8C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Built: A Working Proof of Concept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Kalpani River basin (Mardan / Nowshera) — full hydrodynamic simulation, not a sketch</a:t>
            </a:r>
            <a:endParaRPr lang="en-US" sz="145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from FABDEM, a bare-earth global elevation dataset — removes the building/canopy noise that corrupts cheaper elevation data</a:t>
            </a:r>
            <a:endParaRPr lang="en-US" sz="145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rainfall scenario is real data — historic recorded events or statistically derived from 44 years of satellite rainfall record — zero assumed numbers</a:t>
            </a:r>
            <a:endParaRPr lang="en-US" sz="145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an interactive dashboard showing flood depth, extent, and exposed buildings, scenario by scenario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77800" dist="50800" dir="5400000">
              <a:srgbClr val="0B254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64808" y="1600200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1600200"/>
            <a:ext cx="118872" cy="118872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11" name="Shape 9"/>
          <p:cNvSpPr/>
          <p:nvPr/>
        </p:nvSpPr>
        <p:spPr>
          <a:xfrm>
            <a:off x="6885432" y="1600200"/>
            <a:ext cx="118872" cy="118872"/>
          </a:xfrm>
          <a:prstGeom prst="ellipse">
            <a:avLst/>
          </a:prstGeom>
          <a:solidFill>
            <a:srgbClr val="8CA0B8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1527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Kalpani Flood Risk Platform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1920240"/>
            <a:ext cx="3749040" cy="3657600"/>
          </a:xfrm>
          <a:prstGeom prst="roundRect">
            <a:avLst>
              <a:gd name="adj" fmla="val 1000"/>
            </a:avLst>
          </a:prstGeom>
          <a:solidFill>
            <a:srgbClr val="13495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2468880"/>
            <a:ext cx="1874520" cy="1463040"/>
          </a:xfrm>
          <a:prstGeom prst="line">
            <a:avLst/>
          </a:prstGeom>
          <a:noFill/>
          <a:ln w="1778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3931920"/>
            <a:ext cx="1499616" cy="1280160"/>
          </a:xfrm>
          <a:prstGeom prst="line">
            <a:avLst/>
          </a:prstGeom>
          <a:noFill/>
          <a:ln w="1778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66376" y="5212080"/>
            <a:ext cx="374904" cy="365760"/>
          </a:xfrm>
          <a:prstGeom prst="line">
            <a:avLst/>
          </a:prstGeom>
          <a:noFill/>
          <a:ln w="1778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54596" y="2103120"/>
            <a:ext cx="749808" cy="1280160"/>
          </a:xfrm>
          <a:prstGeom prst="line">
            <a:avLst/>
          </a:prstGeom>
          <a:noFill/>
          <a:ln w="1778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04404" y="3383280"/>
            <a:ext cx="562356" cy="548640"/>
          </a:xfrm>
          <a:prstGeom prst="line">
            <a:avLst/>
          </a:prstGeom>
          <a:noFill/>
          <a:ln w="1778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29116" y="2286000"/>
            <a:ext cx="262433" cy="1463040"/>
          </a:xfrm>
          <a:prstGeom prst="line">
            <a:avLst/>
          </a:prstGeom>
          <a:noFill/>
          <a:ln w="1778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91549" y="3749040"/>
            <a:ext cx="674827" cy="1463040"/>
          </a:xfrm>
          <a:prstGeom prst="line">
            <a:avLst/>
          </a:prstGeom>
          <a:noFill/>
          <a:ln w="1778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78924" y="2651760"/>
            <a:ext cx="112471" cy="1280160"/>
          </a:xfrm>
          <a:prstGeom prst="line">
            <a:avLst/>
          </a:prstGeom>
          <a:noFill/>
          <a:ln w="1778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23960" y="5074920"/>
            <a:ext cx="1280160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0" y="5120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Depth  0.1–4m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469880" y="1920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0469880" y="2203704"/>
            <a:ext cx="64008" cy="6400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/>
          <p:nvPr/>
        </p:nvSpPr>
        <p:spPr>
          <a:xfrm>
            <a:off x="10607040" y="213055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Aug 2006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10469880" y="2587752"/>
            <a:ext cx="64008" cy="6400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28" name="Text 26"/>
          <p:cNvSpPr/>
          <p:nvPr/>
        </p:nvSpPr>
        <p:spPr>
          <a:xfrm>
            <a:off x="10607040" y="25146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event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10469880" y="2971800"/>
            <a:ext cx="64008" cy="6400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0" name="Text 28"/>
          <p:cNvSpPr/>
          <p:nvPr/>
        </p:nvSpPr>
        <p:spPr>
          <a:xfrm>
            <a:off x="10607040" y="2898648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day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10469880" y="3355848"/>
            <a:ext cx="64008" cy="6400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2" name="Text 30"/>
          <p:cNvSpPr/>
          <p:nvPr/>
        </p:nvSpPr>
        <p:spPr>
          <a:xfrm>
            <a:off x="10607040" y="3282696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P75 day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10469880" y="3739896"/>
            <a:ext cx="64008" cy="6400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4" name="Text 32"/>
          <p:cNvSpPr/>
          <p:nvPr/>
        </p:nvSpPr>
        <p:spPr>
          <a:xfrm>
            <a:off x="10607040" y="366674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day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10469880" y="4123944"/>
            <a:ext cx="64008" cy="6400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6" name="Text 34"/>
          <p:cNvSpPr/>
          <p:nvPr/>
        </p:nvSpPr>
        <p:spPr>
          <a:xfrm>
            <a:off x="10607040" y="405079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T25 storm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263640" y="592531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interface — live demonstration follows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17375" y="-640080"/>
            <a:ext cx="914400" cy="9144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60175" y="-1097280"/>
            <a:ext cx="1828800" cy="18288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2975" y="-1554480"/>
            <a:ext cx="2743200" cy="27432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Against Real History, Not Just Theory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463040" y="3794760"/>
            <a:ext cx="9235440" cy="9144"/>
          </a:xfrm>
          <a:prstGeom prst="line">
            <a:avLst/>
          </a:prstGeom>
          <a:noFill/>
          <a:ln w="25400">
            <a:solidFill>
              <a:srgbClr val="8CA0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05656" y="3694176"/>
            <a:ext cx="201168" cy="201168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77656" y="3694176"/>
            <a:ext cx="201168" cy="201168"/>
          </a:xfrm>
          <a:prstGeom prst="ellipse">
            <a:avLst/>
          </a:prstGeom>
          <a:solidFill>
            <a:srgbClr val="F2A5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1600200"/>
            <a:ext cx="4297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AUGUST 2006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Kalpani bridge collapse, Mardan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Discharge: 2,285–2,597 m³/s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reading vs. independent hydraulic reconstruction agree within ~12%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331012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33101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EVENT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29400" y="4206240"/>
            <a:ext cx="4297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438912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2010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monsoon flood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up to 3,361 m³/s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recorded discharge on the Kalpani in the literature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38404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38404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/ STRESS-TEST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Ullah, Farooq, Sarwar, Tareen &amp; Wahid (2016), Arabian Journal of Geosciences 9(6); DAWN, 6 Aug 2006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6675120"/>
            <a:ext cx="914400" cy="914400"/>
          </a:xfrm>
          <a:prstGeom prst="ellipse">
            <a:avLst/>
          </a:prstGeom>
          <a:ln w="12700">
            <a:solidFill>
              <a:srgbClr val="1C6E8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34440" y="6172200"/>
            <a:ext cx="1920240" cy="1920240"/>
          </a:xfrm>
          <a:prstGeom prst="ellipse">
            <a:avLst/>
          </a:prstGeom>
          <a:ln w="12700">
            <a:solidFill>
              <a:srgbClr val="1C6E8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669280"/>
            <a:ext cx="2926080" cy="2926080"/>
          </a:xfrm>
          <a:prstGeom prst="ellipse">
            <a:avLst/>
          </a:prstGeom>
          <a:ln w="12700">
            <a:solidFill>
              <a:srgbClr val="1C6E8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240280" y="5166360"/>
            <a:ext cx="3931920" cy="3931920"/>
          </a:xfrm>
          <a:prstGeom prst="ellipse">
            <a:avLst/>
          </a:prstGeom>
          <a:ln w="12700">
            <a:solidFill>
              <a:srgbClr val="1C6E8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0048" y="1600200"/>
            <a:ext cx="1371600" cy="137160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7" name="Image 0" descr="C:\Users\ramee\AppData\Local\Temp\claude\C--NDMA-infra-portal\63ed8ce6-2b8c-4432-b438-e37257ea434d\scratchpad\pptx_build\icons\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9232" y="1929384"/>
            <a:ext cx="713232" cy="713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3246120"/>
            <a:ext cx="12191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Selection  →  Depth &amp; Extent  →  Building Exposure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recording available if connectivity fails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Already Tells Us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 below is real — a recorded historic event, or derived directly from 44 years of satellite rainfall records for this exact watershed.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110642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093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CHIRPS Daily (UCSB-CHG), GPM IMERG V07, PMD — basin-mean totals computed for this exact watershed polygon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17375" y="6583680"/>
            <a:ext cx="914400" cy="9144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60175" y="6126480"/>
            <a:ext cx="1828800" cy="18288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2975" y="5669280"/>
            <a:ext cx="2743200" cy="27432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PLAINLY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Honest Limit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46608" y="160020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89508" y="1851660"/>
            <a:ext cx="685800" cy="685800"/>
          </a:xfrm>
          <a:prstGeom prst="ellipse">
            <a:avLst/>
          </a:prstGeom>
          <a:solidFill>
            <a:srgbClr val="1C6E8C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9" name="Image 0" descr="C:\Users\ramee\AppData\Local\Temp\claude\C--NDMA-infra-portal\63ed8ce6-2b8c-4432-b438-e37257ea434d\scratchpad\pptx_build\icons\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100" y="201625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35328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Today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58088" y="2971800"/>
            <a:ext cx="4297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real flood depth and extent per scenario — a physics-based hydrodynamic solve, not an estimate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two real, independently-corroborated historic events (2006, 2010)</a:t>
            </a:r>
            <a:endParaRPr lang="en-US" sz="1300" dirty="0"/>
          </a:p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simulated depth to real building footprints for an exposure count, scenario by scenario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24448" y="160020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67348" y="1851660"/>
            <a:ext cx="685800" cy="68580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14" name="Image 1" descr="C:\Users\ramee\AppData\Local\Temp\claude\C--NDMA-infra-portal\63ed8ce6-2b8c-4432-b438-e37257ea434d\scratchpad\pptx_build\icons\exclama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940" y="201625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13168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Doesn't — Yet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735928" y="2971800"/>
            <a:ext cx="4297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yet put a rupee figure on the damage — no cost-of-repair estimate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yet distinguish building vulnerability by construction type or material</a:t>
            </a:r>
            <a:endParaRPr lang="en-US" sz="1300" dirty="0"/>
          </a:p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layer currently mismatched to the final watershed boundary — disclosed, not hidden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defensible cost figure requires knowing what a building is made of — not just where it stands.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731520" cy="731520"/>
          </a:xfrm>
          <a:prstGeom prst="ellipse">
            <a:avLst/>
          </a:prstGeom>
          <a:ln w="12700">
            <a:solidFill>
              <a:srgbClr val="1C6E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60120" y="-960120"/>
            <a:ext cx="1554480" cy="1554480"/>
          </a:xfrm>
          <a:prstGeom prst="ellipse">
            <a:avLst/>
          </a:prstGeom>
          <a:ln w="12700">
            <a:solidFill>
              <a:srgbClr val="1C6E8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1371600"/>
            <a:ext cx="2377440" cy="2377440"/>
          </a:xfrm>
          <a:prstGeom prst="ellipse">
            <a:avLst/>
          </a:prstGeom>
          <a:ln w="12700">
            <a:solidFill>
              <a:srgbClr val="1C6E8C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CAPABILITY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Link: Material Data (BIM)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— Building Information Modeling — a structured digital record of what a building is actually built from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86968" y="2304288"/>
            <a:ext cx="1060704" cy="1060704"/>
          </a:xfrm>
          <a:prstGeom prst="ellipse">
            <a:avLst/>
          </a:prstGeom>
          <a:solidFill>
            <a:srgbClr val="1C6E8C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9" name="Image 0" descr="C:\Users\ramee\AppData\Local\Temp\claude\C--NDMA-infra-portal\63ed8ce6-2b8c-4432-b438-e37257ea434d\scratchpad\pptx_build\icons\waterd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537" y="2558857"/>
            <a:ext cx="551566" cy="5515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5021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65960" y="25146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CA0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2715768" y="2304288"/>
            <a:ext cx="1060704" cy="1060704"/>
          </a:xfrm>
          <a:prstGeom prst="ellipse">
            <a:avLst/>
          </a:prstGeom>
          <a:solidFill>
            <a:srgbClr val="1C6E8C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13" name="Image 1" descr="C:\Users\ramee\AppData\Local\Temp\claude\C--NDMA-infra-portal\63ed8ce6-2b8c-4432-b438-e37257ea434d\scratchpad\pptx_build\icons\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337" y="2558857"/>
            <a:ext cx="551566" cy="5515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35021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794760" y="25146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CA0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4544568" y="2304288"/>
            <a:ext cx="1060704" cy="1060704"/>
          </a:xfrm>
          <a:prstGeom prst="ellipse">
            <a:avLst/>
          </a:prstGeom>
          <a:solidFill>
            <a:srgbClr val="1C6E8C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17" name="Image 2" descr="C:\Users\ramee\AppData\Local\Temp\claude\C--NDMA-infra-portal\63ed8ce6-2b8c-4432-b438-e37257ea434d\scratchpad\pptx_build\icons\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137" y="2558857"/>
            <a:ext cx="551566" cy="5515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34840" y="35021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623560" y="25146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CA0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6373368" y="2304288"/>
            <a:ext cx="1060704" cy="1060704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21" name="Image 3" descr="C:\Users\ramee\AppData\Local\Temp\claude\C--NDMA-infra-portal\63ed8ce6-2b8c-4432-b438-e37257ea434d\scratchpad\pptx_build\icons\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937" y="2558857"/>
            <a:ext cx="551566" cy="5515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63640" y="35021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(BIM)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366760" y="2560320"/>
            <a:ext cx="502920" cy="548640"/>
          </a:xfrm>
          <a:prstGeom prst="chevron">
            <a:avLst/>
          </a:prstGeom>
          <a:solidFill>
            <a:srgbClr val="8CA0B8"/>
          </a:solidFill>
          <a:ln/>
        </p:spPr>
      </p:sp>
      <p:sp>
        <p:nvSpPr>
          <p:cNvPr id="24" name="Shape 18"/>
          <p:cNvSpPr/>
          <p:nvPr/>
        </p:nvSpPr>
        <p:spPr>
          <a:xfrm>
            <a:off x="9098280" y="2267712"/>
            <a:ext cx="2468880" cy="1133856"/>
          </a:xfrm>
          <a:prstGeom prst="roundRect">
            <a:avLst>
              <a:gd name="adj" fmla="val 6452"/>
            </a:avLst>
          </a:prstGeom>
          <a:solidFill>
            <a:srgbClr val="F2A541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9098280" y="2267712"/>
            <a:ext cx="246888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Damage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822960" y="4663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novel technique — this is the same depth-damage curve method used in FEMA's HAZUS flood-loss model, a methodology referenced globally, including in World Bank-funded work.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FEMA Hazus 5.1 Flood Model Technical Manual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OVERLOOKED COST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Damage Isn't Just What You Can See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508760" y="1216152"/>
            <a:ext cx="1371600" cy="384048"/>
          </a:xfrm>
          <a:prstGeom prst="triangle">
            <a:avLst/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00200"/>
            <a:ext cx="27432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C7D3E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405226"/>
            <a:ext cx="2468880" cy="4572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920240"/>
            <a:ext cx="320040" cy="320040"/>
          </a:xfrm>
          <a:prstGeom prst="roundRect">
            <a:avLst>
              <a:gd name="adj" fmla="val 8571"/>
            </a:avLst>
          </a:prstGeom>
          <a:solidFill>
            <a:srgbClr val="EAF0F6"/>
          </a:solidFill>
          <a:ln w="12700">
            <a:solidFill>
              <a:srgbClr val="C7D3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1920240"/>
            <a:ext cx="320040" cy="320040"/>
          </a:xfrm>
          <a:prstGeom prst="roundRect">
            <a:avLst>
              <a:gd name="adj" fmla="val 8571"/>
            </a:avLst>
          </a:prstGeom>
          <a:solidFill>
            <a:srgbClr val="EAF0F6"/>
          </a:solidFill>
          <a:ln w="12700">
            <a:solidFill>
              <a:srgbClr val="C7D3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3725266"/>
            <a:ext cx="320040" cy="320040"/>
          </a:xfrm>
          <a:prstGeom prst="roundRect">
            <a:avLst>
              <a:gd name="adj" fmla="val 8571"/>
            </a:avLst>
          </a:prstGeom>
          <a:solidFill>
            <a:srgbClr val="EAF0F6"/>
          </a:solidFill>
          <a:ln w="12700">
            <a:solidFill>
              <a:srgbClr val="C7D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3725266"/>
            <a:ext cx="320040" cy="320040"/>
          </a:xfrm>
          <a:prstGeom prst="roundRect">
            <a:avLst>
              <a:gd name="adj" fmla="val 8571"/>
            </a:avLst>
          </a:prstGeom>
          <a:solidFill>
            <a:srgbClr val="EAF0F6"/>
          </a:solidFill>
          <a:ln w="12700">
            <a:solidFill>
              <a:srgbClr val="C7D3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3834994"/>
            <a:ext cx="2688336" cy="2035454"/>
          </a:xfrm>
          <a:prstGeom prst="rect">
            <a:avLst/>
          </a:prstGeom>
          <a:solidFill>
            <a:srgbClr val="1C6E8C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834994"/>
            <a:ext cx="2743200" cy="4572"/>
          </a:xfrm>
          <a:prstGeom prst="line">
            <a:avLst/>
          </a:prstGeom>
          <a:noFill/>
          <a:ln w="25400">
            <a:solidFill>
              <a:srgbClr val="F2A54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234440" y="3670402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67040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FLOOD LEVEL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55848" y="2102206"/>
            <a:ext cx="457200" cy="45720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16" name="Image 0" descr="C:\Users\ramee\AppData\Local\Temp\claude\C--NDMA-infra-portal\63ed8ce6-2b8c-4432-b438-e37257ea434d\scratchpad\pptx_build\icons\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5576" y="2211934"/>
            <a:ext cx="237744" cy="23774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355848" y="2961742"/>
            <a:ext cx="457200" cy="457200"/>
          </a:xfrm>
          <a:prstGeom prst="ellipse">
            <a:avLst/>
          </a:prstGeom>
          <a:solidFill>
            <a:srgbClr val="1C6E8C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18" name="Image 1" descr="C:\Users\ramee\AppData\Local\Temp\claude\C--NDMA-infra-portal\63ed8ce6-2b8c-4432-b438-e37257ea434d\scratchpad\pptx_build\icons\t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3071470"/>
            <a:ext cx="237744" cy="23774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355848" y="4036162"/>
            <a:ext cx="457200" cy="457200"/>
          </a:xfrm>
          <a:prstGeom prst="ellipse">
            <a:avLst/>
          </a:prstGeom>
          <a:solidFill>
            <a:srgbClr val="1C6E8C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20" name="Image 2" descr="C:\Users\ramee\AppData\Local\Temp\claude\C--NDMA-infra-portal\63ed8ce6-2b8c-4432-b438-e37257ea434d\scratchpad\pptx_build\icons\boxo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4145890"/>
            <a:ext cx="237744" cy="23774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813048" y="2330806"/>
            <a:ext cx="164592" cy="4572"/>
          </a:xfrm>
          <a:prstGeom prst="line">
            <a:avLst/>
          </a:prstGeom>
          <a:noFill/>
          <a:ln w="12700">
            <a:solidFill>
              <a:srgbClr val="8CA0B8"/>
            </a:solidFill>
            <a:prstDash val="sysDot"/>
          </a:ln>
        </p:spPr>
      </p:sp>
      <p:sp>
        <p:nvSpPr>
          <p:cNvPr id="22" name="Text 17"/>
          <p:cNvSpPr/>
          <p:nvPr/>
        </p:nvSpPr>
        <p:spPr>
          <a:xfrm>
            <a:off x="3977640" y="194675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systems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Wiring, panels, outlets — damage begins in the first few inches of water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3813048" y="3190342"/>
            <a:ext cx="164592" cy="4572"/>
          </a:xfrm>
          <a:prstGeom prst="line">
            <a:avLst/>
          </a:prstGeom>
          <a:noFill/>
          <a:ln w="12700">
            <a:solidFill>
              <a:srgbClr val="8CA0B8"/>
            </a:solidFill>
            <a:prstDash val="sysDot"/>
          </a:ln>
        </p:spPr>
      </p:sp>
      <p:sp>
        <p:nvSpPr>
          <p:cNvPr id="24" name="Text 19"/>
          <p:cNvSpPr/>
          <p:nvPr/>
        </p:nvSpPr>
        <p:spPr>
          <a:xfrm>
            <a:off x="3977640" y="2806294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 &amp; drainage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 and drainage lines contaminated and corroded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3813048" y="4264762"/>
            <a:ext cx="164592" cy="4572"/>
          </a:xfrm>
          <a:prstGeom prst="line">
            <a:avLst/>
          </a:prstGeom>
          <a:noFill/>
          <a:ln w="12700">
            <a:solidFill>
              <a:srgbClr val="8CA0B8"/>
            </a:solidFill>
            <a:prstDash val="sysDot"/>
          </a:ln>
        </p:spPr>
      </p:sp>
      <p:sp>
        <p:nvSpPr>
          <p:cNvPr id="26" name="Text 21"/>
          <p:cNvSpPr/>
          <p:nvPr/>
        </p:nvSpPr>
        <p:spPr>
          <a:xfrm>
            <a:off x="3977640" y="3880714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&amp; finishes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Flooring, furnishings, fixtures — replaced, not repaired</a:t>
            </a:r>
            <a:endParaRPr lang="en-US" sz="1450" dirty="0"/>
          </a:p>
        </p:txBody>
      </p:sp>
      <p:sp>
        <p:nvSpPr>
          <p:cNvPr id="27" name="Shape 22"/>
          <p:cNvSpPr/>
          <p:nvPr/>
        </p:nvSpPr>
        <p:spPr>
          <a:xfrm>
            <a:off x="3977640" y="4160520"/>
            <a:ext cx="7406640" cy="1508760"/>
          </a:xfrm>
          <a:prstGeom prst="roundRect">
            <a:avLst>
              <a:gd name="adj" fmla="val 4848"/>
            </a:avLst>
          </a:prstGeom>
          <a:solidFill>
            <a:srgbClr val="EFF4F9"/>
          </a:solidFill>
          <a:ln/>
        </p:spPr>
      </p:sp>
      <p:sp>
        <p:nvSpPr>
          <p:cNvPr id="28" name="Text 23"/>
          <p:cNvSpPr/>
          <p:nvPr/>
        </p:nvSpPr>
        <p:spPr>
          <a:xfrm>
            <a:off x="4251960" y="4315968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flood-damage methodology (FEMA / USACE) treats interior systems as standard, quantifiable damage — not an afterthought. Damage to electrical systems can begin before water is even visible at the door.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FEMA Hazus 5.1 Flood Model Technical Manual; USACE depth-damage functions — npj Natural Hazards (2024)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17375" y="-640080"/>
            <a:ext cx="914400" cy="9144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60175" y="-1097280"/>
            <a:ext cx="1828800" cy="18288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2975" y="-1554480"/>
            <a:ext cx="2743200" cy="27432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Public Infrastructure Comes First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615288" y="1760220"/>
            <a:ext cx="1143000" cy="114300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8" name="Image 0" descr="C:\Users\ramee\AppData\Local\Temp\claude\C--NDMA-infra-portal\63ed8ce6-2b8c-4432-b438-e37257ea434d\scratchpad\pptx_build\icons\hosp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203454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0928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20928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of care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21328" y="1760220"/>
            <a:ext cx="1143000" cy="1143000"/>
          </a:xfrm>
          <a:prstGeom prst="ellipse">
            <a:avLst/>
          </a:prstGeom>
          <a:solidFill>
            <a:srgbClr val="1C6E8C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12" name="Image 1" descr="C:\Users\ramee\AppData\Local\Temp\claude\C--NDMA-infra-portal\63ed8ce6-2b8c-4432-b438-e37257ea434d\scratchpad\pptx_build\icons\scho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48" y="203454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6968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26968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shelters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827368" y="1760220"/>
            <a:ext cx="1143000" cy="114300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16" name="Image 2" descr="C:\Users\ramee\AppData\Local\Temp\claude\C--NDMA-infra-portal\63ed8ce6-2b8c-4432-b438-e37257ea434d\scratchpad\pptx_build\icons\warehou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688" y="203454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3008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33008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supply chains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433408" y="1760220"/>
            <a:ext cx="1143000" cy="1143000"/>
          </a:xfrm>
          <a:prstGeom prst="ellipse">
            <a:avLst/>
          </a:prstGeom>
          <a:solidFill>
            <a:srgbClr val="1C6E8C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20" name="Image 3" descr="C:\Users\ramee\AppData\Local\Temp\claude\C--NDMA-infra-portal\63ed8ce6-2b8c-4432-b438-e37257ea434d\scratchpad\pptx_build\icons\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7728" y="2034540"/>
            <a:ext cx="594360" cy="5943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39048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Water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839048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services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097280" y="47091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flooded warehouse is an inventory loss. A flooded hospital is a capability loss — at the exact moment it's needed most.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of Pakistan's health facilities were disrupted in the 2022 floods — Pakistan Floods 2022 PDNA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TO ACTION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Simulation to Decision: The Value Chain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35128" y="2148840"/>
            <a:ext cx="2331720" cy="3108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63928" y="2313432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2163928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66648" y="2674620"/>
            <a:ext cx="868680" cy="86868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8" name="Image 0" descr="C:\Users\ramee\AppData\Local\Temp\claude\C--NDMA-infra-portal\63ed8ce6-2b8c-4432-b438-e37257ea434d\scratchpad\pptx_build\icons\searchlo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131" y="2883103"/>
            <a:ext cx="451714" cy="4517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2288" y="37490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3728" y="416052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critical infrastructure sits in a real, modeled hazard zone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04008" y="3447288"/>
            <a:ext cx="457200" cy="512064"/>
          </a:xfrm>
          <a:prstGeom prst="chevron">
            <a:avLst/>
          </a:prstGeom>
          <a:solidFill>
            <a:srgbClr val="F2A541"/>
          </a:solidFill>
          <a:ln/>
        </p:spPr>
      </p:sp>
      <p:sp>
        <p:nvSpPr>
          <p:cNvPr id="12" name="Shape 9"/>
          <p:cNvSpPr/>
          <p:nvPr/>
        </p:nvSpPr>
        <p:spPr>
          <a:xfrm>
            <a:off x="3398368" y="2148840"/>
            <a:ext cx="2331720" cy="3108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27168" y="2313432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1"/>
          <p:cNvSpPr/>
          <p:nvPr/>
        </p:nvSpPr>
        <p:spPr>
          <a:xfrm>
            <a:off x="5227168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129888" y="2674620"/>
            <a:ext cx="868680" cy="86868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16" name="Image 1" descr="C:\Users\ramee\AppData\Local\Temp\claude\C--NDMA-infra-portal\63ed8ce6-2b8c-4432-b438-e37257ea434d\scratchpad\pptx_build\icons\sortamount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371" y="2883103"/>
            <a:ext cx="451714" cy="45171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35528" y="37490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626968" y="416052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those assets by modeled exposure severity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867248" y="3447288"/>
            <a:ext cx="457200" cy="512064"/>
          </a:xfrm>
          <a:prstGeom prst="chevron">
            <a:avLst/>
          </a:prstGeom>
          <a:solidFill>
            <a:srgbClr val="F2A541"/>
          </a:solidFill>
          <a:ln/>
        </p:spPr>
      </p:sp>
      <p:sp>
        <p:nvSpPr>
          <p:cNvPr id="20" name="Shape 16"/>
          <p:cNvSpPr/>
          <p:nvPr/>
        </p:nvSpPr>
        <p:spPr>
          <a:xfrm>
            <a:off x="6461608" y="2148840"/>
            <a:ext cx="2331720" cy="3108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90408" y="2313432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18"/>
          <p:cNvSpPr/>
          <p:nvPr/>
        </p:nvSpPr>
        <p:spPr>
          <a:xfrm>
            <a:off x="8290408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7193128" y="2674620"/>
            <a:ext cx="868680" cy="86868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24" name="Image 2" descr="C:\Users\ramee\AppData\Local\Temp\claude\C--NDMA-infra-portal\63ed8ce6-2b8c-4432-b438-e37257ea434d\scratchpad\pptx_build\icons\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611" y="2883103"/>
            <a:ext cx="451714" cy="45171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98768" y="37490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690208" y="416052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future development away from high-hazard zones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930488" y="3447288"/>
            <a:ext cx="457200" cy="512064"/>
          </a:xfrm>
          <a:prstGeom prst="chevron">
            <a:avLst/>
          </a:prstGeom>
          <a:solidFill>
            <a:srgbClr val="F2A541"/>
          </a:solidFill>
          <a:ln/>
        </p:spPr>
      </p:sp>
      <p:sp>
        <p:nvSpPr>
          <p:cNvPr id="28" name="Shape 23"/>
          <p:cNvSpPr/>
          <p:nvPr/>
        </p:nvSpPr>
        <p:spPr>
          <a:xfrm>
            <a:off x="9524848" y="2148840"/>
            <a:ext cx="2331720" cy="3108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1353648" y="2313432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0" name="Text 25"/>
          <p:cNvSpPr/>
          <p:nvPr/>
        </p:nvSpPr>
        <p:spPr>
          <a:xfrm>
            <a:off x="11353648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10256368" y="2674620"/>
            <a:ext cx="868680" cy="86868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32" name="Image 3" descr="C:\Users\ramee\AppData\Local\Temp\claude\C--NDMA-infra-portal\63ed8ce6-2b8c-4432-b438-e37257ea434d\scratchpad\pptx_build\icons\clipboard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851" y="2883103"/>
            <a:ext cx="451714" cy="45171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662008" y="37490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9753448" y="416052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ranked list into a standing inspection schedule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914400" cy="914400"/>
          </a:xfrm>
          <a:prstGeom prst="ellipse">
            <a:avLst/>
          </a:prstGeom>
          <a:ln w="12700">
            <a:solidFill>
              <a:srgbClr val="1C6E8C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34440" y="-1234440"/>
            <a:ext cx="1920240" cy="1920240"/>
          </a:xfrm>
          <a:prstGeom prst="ellipse">
            <a:avLst/>
          </a:prstGeom>
          <a:ln w="12700">
            <a:solidFill>
              <a:srgbClr val="1C6E8C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-1737360"/>
            <a:ext cx="2926080" cy="2926080"/>
          </a:xfrm>
          <a:prstGeom prst="ellipse">
            <a:avLst/>
          </a:prstGeom>
          <a:ln w="12700">
            <a:solidFill>
              <a:srgbClr val="1C6E8C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240280" y="-2240280"/>
            <a:ext cx="3931920" cy="3931920"/>
          </a:xfrm>
          <a:prstGeom prst="ellipse">
            <a:avLst/>
          </a:prstGeom>
          <a:ln w="12700">
            <a:solidFill>
              <a:srgbClr val="1C6E8C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Bigger Picture: A Digital Twin Ecosystem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 flipV="1">
            <a:off x="5394960" y="1920240"/>
            <a:ext cx="1920240" cy="548640"/>
          </a:xfrm>
          <a:prstGeom prst="line">
            <a:avLst/>
          </a:prstGeom>
          <a:noFill/>
          <a:ln w="12700">
            <a:solidFill>
              <a:srgbClr val="1C6E8C">
                <a:alpha val="70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5394960" y="2468880"/>
            <a:ext cx="3383280" cy="548640"/>
          </a:xfrm>
          <a:prstGeom prst="line">
            <a:avLst/>
          </a:prstGeom>
          <a:noFill/>
          <a:ln w="12700">
            <a:solidFill>
              <a:srgbClr val="1C6E8C">
                <a:alpha val="70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 flipH="1">
            <a:off x="4023360" y="2468880"/>
            <a:ext cx="1371600" cy="1188720"/>
          </a:xfrm>
          <a:prstGeom prst="line">
            <a:avLst/>
          </a:prstGeom>
          <a:noFill/>
          <a:ln w="12700">
            <a:solidFill>
              <a:srgbClr val="1C6E8C">
                <a:alpha val="70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5394960" y="2468880"/>
            <a:ext cx="1280160" cy="1828800"/>
          </a:xfrm>
          <a:prstGeom prst="line">
            <a:avLst/>
          </a:prstGeom>
          <a:noFill/>
          <a:ln w="12700">
            <a:solidFill>
              <a:srgbClr val="1C6E8C">
                <a:alpha val="70000"/>
              </a:srgbClr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7315200" y="1920240"/>
            <a:ext cx="1463040" cy="1097280"/>
          </a:xfrm>
          <a:prstGeom prst="line">
            <a:avLst/>
          </a:prstGeom>
          <a:noFill/>
          <a:ln w="12700">
            <a:solidFill>
              <a:srgbClr val="1C6E8C">
                <a:alpha val="70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4869180" y="1943100"/>
            <a:ext cx="1051560" cy="1051560"/>
          </a:xfrm>
          <a:prstGeom prst="hexagon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4860" y="194310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KALPANI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(proven)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89420" y="1394460"/>
            <a:ext cx="1051560" cy="1051560"/>
          </a:xfrm>
          <a:prstGeom prst="hexagon">
            <a:avLst/>
          </a:prstGeom>
          <a:solidFill>
            <a:srgbClr val="0B2545"/>
          </a:solidFill>
          <a:ln w="19050">
            <a:solidFill>
              <a:srgbClr val="1C6E8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515100" y="139446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52460" y="2491740"/>
            <a:ext cx="1051560" cy="1051560"/>
          </a:xfrm>
          <a:prstGeom prst="hexagon">
            <a:avLst/>
          </a:prstGeom>
          <a:solidFill>
            <a:srgbClr val="0B2545"/>
          </a:solidFill>
          <a:ln w="19050">
            <a:solidFill>
              <a:srgbClr val="1C6E8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978140" y="249174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97580" y="3131820"/>
            <a:ext cx="1051560" cy="1051560"/>
          </a:xfrm>
          <a:prstGeom prst="hexagon">
            <a:avLst/>
          </a:prstGeom>
          <a:solidFill>
            <a:srgbClr val="0B2545"/>
          </a:solidFill>
          <a:ln w="19050">
            <a:solidFill>
              <a:srgbClr val="1C6E8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223260" y="313182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49340" y="3771900"/>
            <a:ext cx="1051560" cy="1051560"/>
          </a:xfrm>
          <a:prstGeom prst="hexagon">
            <a:avLst/>
          </a:prstGeom>
          <a:solidFill>
            <a:srgbClr val="0B2545"/>
          </a:solidFill>
          <a:ln w="19050">
            <a:solidFill>
              <a:srgbClr val="1C6E8C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875020" y="377190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507492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Kalpani is one basin — proof that the method works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is basin-agnostic — extendable nationally, watershed by watershed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state: a living, continuously-updated national flood digital twin feeding a standing decision-support system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6583680"/>
            <a:ext cx="914400" cy="9144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6126480"/>
            <a:ext cx="1828800" cy="18288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554480" y="5669280"/>
            <a:ext cx="2743200" cy="2743200"/>
          </a:xfrm>
          <a:prstGeom prst="ellipse">
            <a:avLst/>
          </a:prstGeom>
          <a:ln w="12700">
            <a:solidFill>
              <a:srgbClr val="1C6E8C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Needed to Get There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86588" y="173736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1028" y="2034540"/>
            <a:ext cx="960120" cy="96012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9" name="Image 0" descr="C:\Users\ramee\AppData\Local\Temp\claude\C--NDMA-infra-portal\63ed8ce6-2b8c-4432-b438-e37257ea434d\scratchpad\pptx_build\icons\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456" y="2264969"/>
            <a:ext cx="499262" cy="4992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5188" y="32461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Data (BIM)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06628" y="3840480"/>
            <a:ext cx="2788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Building-level construction data — starting with critical infrastructure first, not full national coverage at once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1348" y="173736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15788" y="2034540"/>
            <a:ext cx="960120" cy="96012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14" name="Image 1" descr="C:\Users\ramee\AppData\Local\Temp\claude\C--NDMA-infra-portal\63ed8ce6-2b8c-4432-b438-e37257ea434d\scratchpad\pptx_build\icons\cloud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216" y="2264969"/>
            <a:ext cx="499262" cy="4992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09948" y="32461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&amp; Discharge Access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701388" y="3840480"/>
            <a:ext cx="2788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access to real records via PMD's Climate Data Processing Centre — a relationship worth formalizing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76108" y="173736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410548" y="2034540"/>
            <a:ext cx="960120" cy="96012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pic>
        <p:nvPicPr>
          <p:cNvPr id="19" name="Image 2" descr="C:\Users\ramee\AppData\Local\Temp\claude\C--NDMA-infra-portal\63ed8ce6-2b8c-4432-b438-e37257ea434d\scratchpad\pptx_build\icons\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976" y="2264969"/>
            <a:ext cx="499262" cy="4992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04708" y="32461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Standing Mandate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96148" y="3840480"/>
            <a:ext cx="2788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as an operational tool that gets used and updated — not a one-time study filed away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17375" y="6583680"/>
            <a:ext cx="1097280" cy="1097280"/>
          </a:xfrm>
          <a:prstGeom prst="ellipse">
            <a:avLst/>
          </a:prstGeom>
          <a:ln w="12700">
            <a:solidFill>
              <a:srgbClr val="1C6E8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23015" y="5989320"/>
            <a:ext cx="2286000" cy="2286000"/>
          </a:xfrm>
          <a:prstGeom prst="ellipse">
            <a:avLst/>
          </a:prstGeom>
          <a:ln w="12700">
            <a:solidFill>
              <a:srgbClr val="1C6E8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28655" y="5394960"/>
            <a:ext cx="3474720" cy="3474720"/>
          </a:xfrm>
          <a:prstGeom prst="ellipse">
            <a:avLst/>
          </a:prstGeom>
          <a:ln w="12700">
            <a:solidFill>
              <a:srgbClr val="1C6E8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4295" y="4800600"/>
            <a:ext cx="4663440" cy="4663440"/>
          </a:xfrm>
          <a:prstGeom prst="ellipse">
            <a:avLst/>
          </a:prstGeom>
          <a:ln w="12700">
            <a:solidFill>
              <a:srgbClr val="1C6E8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39935" y="4206240"/>
            <a:ext cx="5852160" cy="5852160"/>
          </a:xfrm>
          <a:prstGeom prst="ellipse">
            <a:avLst/>
          </a:prstGeom>
          <a:ln w="12700">
            <a:solidFill>
              <a:srgbClr val="1C6E8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645920" y="1280160"/>
            <a:ext cx="1357126" cy="429438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645920" y="1280160"/>
            <a:ext cx="1504640" cy="349540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645920" y="1280160"/>
            <a:ext cx="1903439" cy="54603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1159025"/>
            <a:ext cx="859716" cy="121135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889199"/>
            <a:ext cx="1644549" cy="390961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909804"/>
            <a:ext cx="736878" cy="370356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753559"/>
            <a:ext cx="881121" cy="526601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-134385"/>
            <a:ext cx="1501720" cy="1414545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4884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digital twin doesn't predict the future —</a:t>
            </a:r>
            <a:endParaRPr lang="en-US" sz="28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lets you rehearse it.”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is real. The rainfall is real. The physics is real.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0" y="47091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Continued Demo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   ·   Wing / Directorate   ·   rameen.arsalan369@gmail.com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BACKUP SLIDE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Methodology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only if asked — the full stage-by-stage build log lives in the master plan document.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4020" y="283464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7172" y="2889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8884" y="3200400"/>
            <a:ext cx="1033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(FABDEM)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66748" y="3374136"/>
            <a:ext cx="274320" cy="292608"/>
          </a:xfrm>
          <a:prstGeom prst="chevron">
            <a:avLst/>
          </a:prstGeom>
          <a:solidFill>
            <a:srgbClr val="8CA0B8"/>
          </a:solidFill>
          <a:ln/>
        </p:spPr>
      </p:sp>
      <p:sp>
        <p:nvSpPr>
          <p:cNvPr id="9" name="Shape 7"/>
          <p:cNvSpPr/>
          <p:nvPr/>
        </p:nvSpPr>
        <p:spPr>
          <a:xfrm>
            <a:off x="2250796" y="283464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1C6E8C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23948" y="2889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05660" y="3200400"/>
            <a:ext cx="1033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Delineation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03524" y="3374136"/>
            <a:ext cx="274320" cy="292608"/>
          </a:xfrm>
          <a:prstGeom prst="chevron">
            <a:avLst/>
          </a:prstGeom>
          <a:solidFill>
            <a:srgbClr val="8CA0B8"/>
          </a:solidFill>
          <a:ln/>
        </p:spPr>
      </p:sp>
      <p:sp>
        <p:nvSpPr>
          <p:cNvPr id="13" name="Shape 11"/>
          <p:cNvSpPr/>
          <p:nvPr/>
        </p:nvSpPr>
        <p:spPr>
          <a:xfrm>
            <a:off x="3887572" y="283464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60724" y="2889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42436" y="3200400"/>
            <a:ext cx="1033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Cover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/ Roughness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40300" y="3374136"/>
            <a:ext cx="274320" cy="292608"/>
          </a:xfrm>
          <a:prstGeom prst="chevron">
            <a:avLst/>
          </a:prstGeom>
          <a:solidFill>
            <a:srgbClr val="8CA0B8"/>
          </a:solidFill>
          <a:ln/>
        </p:spPr>
      </p:sp>
      <p:sp>
        <p:nvSpPr>
          <p:cNvPr id="17" name="Shape 15"/>
          <p:cNvSpPr/>
          <p:nvPr/>
        </p:nvSpPr>
        <p:spPr>
          <a:xfrm>
            <a:off x="5524348" y="283464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1C6E8C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97500" y="2889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79212" y="3200400"/>
            <a:ext cx="1033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77076" y="3374136"/>
            <a:ext cx="274320" cy="292608"/>
          </a:xfrm>
          <a:prstGeom prst="chevron">
            <a:avLst/>
          </a:prstGeom>
          <a:solidFill>
            <a:srgbClr val="8CA0B8"/>
          </a:solidFill>
          <a:ln/>
        </p:spPr>
      </p:sp>
      <p:sp>
        <p:nvSpPr>
          <p:cNvPr id="21" name="Shape 19"/>
          <p:cNvSpPr/>
          <p:nvPr/>
        </p:nvSpPr>
        <p:spPr>
          <a:xfrm>
            <a:off x="7161124" y="283464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34276" y="2889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215988" y="3200400"/>
            <a:ext cx="1033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Hydrodynamic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(SFINCS)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413852" y="3374136"/>
            <a:ext cx="274320" cy="292608"/>
          </a:xfrm>
          <a:prstGeom prst="chevron">
            <a:avLst/>
          </a:prstGeom>
          <a:solidFill>
            <a:srgbClr val="8CA0B8"/>
          </a:solidFill>
          <a:ln/>
        </p:spPr>
      </p:sp>
      <p:sp>
        <p:nvSpPr>
          <p:cNvPr id="25" name="Shape 23"/>
          <p:cNvSpPr/>
          <p:nvPr/>
        </p:nvSpPr>
        <p:spPr>
          <a:xfrm>
            <a:off x="8797900" y="283464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1C6E8C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71052" y="2889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852764" y="3200400"/>
            <a:ext cx="1033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Depth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Velocity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050628" y="3374136"/>
            <a:ext cx="274320" cy="292608"/>
          </a:xfrm>
          <a:prstGeom prst="chevron">
            <a:avLst/>
          </a:prstGeom>
          <a:solidFill>
            <a:srgbClr val="8CA0B8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34676" y="283464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507828" y="2889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489540" y="3200400"/>
            <a:ext cx="1033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4400" y="46634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is real-data-only: FABDEM (bare-earth terrain), ESA WorldCover, SoilGrids, CHIRPS/GPM IMERG rainfall, KP Irrigation Dept. cross-sections where obtainable — no assumed or indicative values anywhere in the pipeline.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BACKUP SLIDE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0868" y="1600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0868" y="1984248"/>
            <a:ext cx="2606040" cy="4572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0868" y="2130552"/>
            <a:ext cx="2606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FABDEM V1-2 — Univ. of Bristol / Fathom</a:t>
            </a:r>
            <a:endParaRPr lang="en-US" sz="1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CHIRPS Daily — UCSB Climate Hazards Group</a:t>
            </a:r>
            <a:endParaRPr lang="en-US" sz="1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GPM IMERG V07 — NASA</a:t>
            </a:r>
            <a:endParaRPr lang="en-US" sz="1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WorldCover 10m v200</a:t>
            </a:r>
            <a:endParaRPr lang="en-US" sz="1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SoilGrids 250m — ISRIC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75508" y="1600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75508" y="1984248"/>
            <a:ext cx="2606040" cy="4572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5508" y="2130552"/>
            <a:ext cx="2606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Ullah, Farooq, Sarwar, Tareen &amp; Wahid (2016), Arabian J. of Geosciences 9(6)</a:t>
            </a:r>
            <a:endParaRPr lang="en-US" sz="1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DAWN, 6 Aug 2006 — Mardan bridge collapse report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0148" y="1600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Methodology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0148" y="1984248"/>
            <a:ext cx="2606040" cy="4572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0148" y="2130552"/>
            <a:ext cx="2606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 Hazus 5.1 Flood Model Technical Manual</a:t>
            </a:r>
            <a:endParaRPr lang="en-US" sz="1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USACE depth-damage functions — npj Natural Hazards (2024)</a:t>
            </a:r>
            <a:endParaRPr lang="en-US" sz="1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 P-348, Protecting Building Utility Systems From Flood Damage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044788" y="1600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Context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44788" y="1984248"/>
            <a:ext cx="2606040" cy="4572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44788" y="2130552"/>
            <a:ext cx="2606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Floods 2022 PDNA — Govt. of Pakistan, ADB, EU, UN agencies &amp; World Bank</a:t>
            </a:r>
            <a:endParaRPr lang="en-US" sz="1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/ GFDRR — disaster loss estimation methodology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2026-09-08T10:09:52Z</dcterms:created>
  <dcterms:modified xsi:type="dcterms:W3CDTF">2026-09-08T10:09:52Z</dcterms:modified>
</cp:coreProperties>
</file>